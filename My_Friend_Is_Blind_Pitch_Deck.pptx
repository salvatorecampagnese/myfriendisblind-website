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8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7FF2A"/>
          </a:solidFill>
          <a:ln w="12700">
            <a:solidFill>
              <a:srgbClr val="B7FF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105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80" kern="0" dirty="0">
                <a:solidFill>
                  <a:srgbClr val="6E7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FRIEND IS BLIND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601200" y="651052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E7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• SEP 2026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E74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E74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566928"/>
            <a:ext cx="1965960" cy="292608"/>
          </a:xfrm>
          <a:prstGeom prst="roundRect">
            <a:avLst>
              <a:gd name="adj" fmla="val 18750"/>
            </a:avLst>
          </a:prstGeom>
          <a:solidFill>
            <a:srgbClr val="B7FF2A"/>
          </a:solidFill>
          <a:ln w="12700">
            <a:solidFill>
              <a:srgbClr val="B7FF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30936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080A0D"/>
                </a:solidFill>
              </a:rPr>
              <a:t>CO-OP • SOCIAL PARTY • PC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21792" y="1234440"/>
            <a:ext cx="6675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4F6F8"/>
                </a:solidFill>
              </a:rPr>
              <a:t>MY FRIEND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4F6F8"/>
                </a:solidFill>
              </a:rPr>
              <a:t>IS BLIND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658368" y="292608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7FF2A"/>
                </a:solidFill>
              </a:rPr>
              <a:t>Due giocatori. Informazioni diverse.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B7FF2A"/>
                </a:solidFill>
              </a:rPr>
              <a:t>Una sola possibilità: comunicare.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D"/>
                </a:solidFill>
              </a:rPr>
              <a:t>Pitch deck • Settembre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0" y="1051560"/>
            <a:ext cx="3977640" cy="438912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2C34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09560" y="16002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5D6FF"/>
                </a:solidFill>
              </a:rPr>
              <a:t>GUIDE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63840" y="201168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45D6FF"/>
                </a:solidFill>
              </a:rPr>
              <a:t>◉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9829800" y="16002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7FF2A"/>
                </a:solidFill>
              </a:rPr>
              <a:t>BLIND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784080" y="201168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B7FF2A"/>
                </a:solidFill>
              </a:rPr>
              <a:t>●</a:t>
            </a:r>
            <a:endParaRPr lang="en-US" sz="5400" dirty="0"/>
          </a:p>
        </p:txBody>
      </p:sp>
      <p:sp>
        <p:nvSpPr>
          <p:cNvPr id="12" name="Shape 10"/>
          <p:cNvSpPr/>
          <p:nvPr/>
        </p:nvSpPr>
        <p:spPr>
          <a:xfrm>
            <a:off x="8915400" y="2743200"/>
            <a:ext cx="1051560" cy="0"/>
          </a:xfrm>
          <a:prstGeom prst="line">
            <a:avLst/>
          </a:prstGeom>
          <a:noFill/>
          <a:ln w="25400">
            <a:solidFill>
              <a:srgbClr val="FF4D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0" y="38862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10" kern="0" dirty="0">
                <a:solidFill>
                  <a:srgbClr val="F4F6F8"/>
                </a:solidFill>
              </a:rPr>
              <a:t>ASYMMETRIC INFORMATION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01000" y="437083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3AD"/>
                </a:solidFill>
              </a:rPr>
              <a:t>Il gameplay nasce da ciò che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3AD"/>
                </a:solidFill>
              </a:rPr>
              <a:t>un giocatore sa e l’altro no.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E74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6F8"/>
                </a:solidFill>
              </a:rPr>
              <a:t>Founder–market fit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6926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AD"/>
                </a:solidFill>
              </a:rPr>
              <a:t>Il progetto nasce dall’incrocio tra esperienza tecnica, prodotto e community gaming.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606040" cy="1828800"/>
          </a:xfrm>
          <a:prstGeom prst="roundRect">
            <a:avLst/>
          </a:prstGeom>
          <a:solidFill>
            <a:srgbClr val="12161C"/>
          </a:solidFill>
          <a:ln w="12700">
            <a:solidFill>
              <a:srgbClr val="272E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50292" cy="1828800"/>
          </a:xfrm>
          <a:prstGeom prst="rect">
            <a:avLst/>
          </a:prstGeom>
          <a:solidFill>
            <a:srgbClr val="B7FF2A"/>
          </a:solidFill>
          <a:ln w="12700">
            <a:solidFill>
              <a:srgbClr val="B7FF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61848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0" kern="0" dirty="0">
                <a:solidFill>
                  <a:srgbClr val="9AA3AD"/>
                </a:solidFill>
              </a:rPr>
              <a:t>DEVELOPER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841248" y="19476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F6F8"/>
                </a:solidFill>
              </a:rPr>
              <a:t>10 anni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41248" y="2542032"/>
            <a:ext cx="222199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9AA3AD"/>
                </a:solidFill>
              </a:rPr>
              <a:t>Esperienza nello sviluppo software e nella costruzione di prodotti digitali.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3429000" y="1417320"/>
            <a:ext cx="2606040" cy="1828800"/>
          </a:xfrm>
          <a:prstGeom prst="roundRect">
            <a:avLst/>
          </a:prstGeom>
          <a:solidFill>
            <a:srgbClr val="12161C"/>
          </a:solidFill>
          <a:ln w="12700">
            <a:solidFill>
              <a:srgbClr val="272E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417320"/>
            <a:ext cx="50292" cy="1828800"/>
          </a:xfrm>
          <a:prstGeom prst="rect">
            <a:avLst/>
          </a:prstGeom>
          <a:solidFill>
            <a:srgbClr val="45D6FF"/>
          </a:solidFill>
          <a:ln w="12700">
            <a:solidFill>
              <a:srgbClr val="45D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0168" y="161848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0" kern="0" dirty="0">
                <a:solidFill>
                  <a:srgbClr val="9AA3AD"/>
                </a:solidFill>
              </a:rPr>
              <a:t>PLAYER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3630168" y="19476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F6F8"/>
                </a:solidFill>
              </a:rPr>
              <a:t>6.400 h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630168" y="2542032"/>
            <a:ext cx="222199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9AA3AD"/>
                </a:solidFill>
              </a:rPr>
              <a:t>Giocatore assiduo: migliaia di ore vissute dentro loop, community e dinamiche multiplayer.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6217920" y="1417320"/>
            <a:ext cx="2606040" cy="1828800"/>
          </a:xfrm>
          <a:prstGeom prst="roundRect">
            <a:avLst/>
          </a:prstGeom>
          <a:solidFill>
            <a:srgbClr val="12161C"/>
          </a:solidFill>
          <a:ln w="12700">
            <a:solidFill>
              <a:srgbClr val="272E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417320"/>
            <a:ext cx="50292" cy="1828800"/>
          </a:xfrm>
          <a:prstGeom prst="rect">
            <a:avLst/>
          </a:prstGeom>
          <a:solidFill>
            <a:srgbClr val="FFCB57"/>
          </a:solidFill>
          <a:ln w="12700">
            <a:solidFill>
              <a:srgbClr val="FFCB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161848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0" kern="0" dirty="0">
                <a:solidFill>
                  <a:srgbClr val="9AA3AD"/>
                </a:solidFill>
              </a:rPr>
              <a:t>PRODUCT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6419088" y="19476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F6F8"/>
                </a:solidFill>
              </a:rPr>
              <a:t>2 launch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6419088" y="2542032"/>
            <a:ext cx="222199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9AA3AD"/>
                </a:solidFill>
              </a:rPr>
              <a:t>Co-Founder di una società di prodotto con due prodotti già lanciati sul mercato.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9006840" y="1417320"/>
            <a:ext cx="2514600" cy="1828800"/>
          </a:xfrm>
          <a:prstGeom prst="roundRect">
            <a:avLst/>
          </a:prstGeom>
          <a:solidFill>
            <a:srgbClr val="12161C"/>
          </a:solidFill>
          <a:ln w="12700">
            <a:solidFill>
              <a:srgbClr val="272E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06840" y="1417320"/>
            <a:ext cx="50292" cy="182880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08008" y="161848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0" kern="0" dirty="0">
                <a:solidFill>
                  <a:srgbClr val="9AA3AD"/>
                </a:solidFill>
              </a:rPr>
              <a:t>COMMUNITY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9208008" y="194767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F6F8"/>
                </a:solidFill>
              </a:rPr>
              <a:t>6.000+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9208008" y="2542032"/>
            <a:ext cx="213055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9AA3AD"/>
                </a:solidFill>
              </a:rPr>
              <a:t>Ex-founder di una community gaming con oltre 6.000 giocatori.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658368" y="39776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6F8"/>
                </a:solidFill>
              </a:rPr>
              <a:t>Non sto imparando il pubblico da zero.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676656" y="46177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AD"/>
                </a:solidFill>
              </a:rPr>
              <a:t>Sto trasformando esperienza tecnica + cultura gaming + distribuzione community in un prodotto co-op progettato per essere guardato, condiviso e rigiocato.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E74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6F8"/>
                </a:solidFill>
              </a:rPr>
              <a:t>Cos’è My Friend Is Blind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6926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AD"/>
                </a:solidFill>
              </a:rPr>
              <a:t>Un co-op asimmetrico in cui la comunicazione non è una feature: è il gioco.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6675120" cy="4251960"/>
          </a:xfrm>
          <a:prstGeom prst="roundRect">
            <a:avLst/>
          </a:prstGeom>
          <a:solidFill>
            <a:srgbClr val="12161C"/>
          </a:solidFill>
          <a:ln w="12700">
            <a:solidFill>
              <a:srgbClr val="2931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83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D6FF"/>
                </a:solidFill>
              </a:rPr>
              <a:t>THE GUIDE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21284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8"/>
                </a:solidFill>
              </a:rPr>
              <a:t>vede il quadro generale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4F6F8"/>
                </a:solidFill>
              </a:rPr>
              <a:t>ma non può risolvere tutto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617720" y="1783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FF2A"/>
                </a:solidFill>
              </a:rPr>
              <a:t>THE BLIND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17720" y="221284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8"/>
                </a:solidFill>
              </a:rPr>
              <a:t>agisce nel mondo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4F6F8"/>
                </a:solidFill>
              </a:rPr>
              <a:t>con visibilità limitata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37560" y="2240280"/>
            <a:ext cx="960120" cy="658368"/>
          </a:xfrm>
          <a:prstGeom prst="chevron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23317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A0D"/>
                </a:solidFill>
              </a:rPr>
              <a:t>PARLA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80A0D"/>
                </a:solidFill>
              </a:rPr>
              <a:t>VELOCE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05840" y="3886200"/>
            <a:ext cx="5897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AD"/>
                </a:solidFill>
              </a:rPr>
              <a:t>Ogni livello cambia la regola, la pressione o l’informazione disponibile. Il risultato è una sequenza di momenti “clip-worthy”: incomprensioni, panico, clutch e fallimenti condivisi.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35240" y="1417320"/>
            <a:ext cx="3886200" cy="1188720"/>
          </a:xfrm>
          <a:prstGeom prst="roundRect">
            <a:avLst/>
          </a:prstGeom>
          <a:solidFill>
            <a:srgbClr val="12161C"/>
          </a:solidFill>
          <a:ln w="12700">
            <a:solidFill>
              <a:srgbClr val="272E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35240" y="1417320"/>
            <a:ext cx="50292" cy="1188720"/>
          </a:xfrm>
          <a:prstGeom prst="rect">
            <a:avLst/>
          </a:prstGeom>
          <a:solidFill>
            <a:srgbClr val="B7FF2A"/>
          </a:solidFill>
          <a:ln w="12700">
            <a:solidFill>
              <a:srgbClr val="B7FF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36408" y="161848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0" kern="0" dirty="0">
                <a:solidFill>
                  <a:srgbClr val="9AA3AD"/>
                </a:solidFill>
              </a:rPr>
              <a:t>CORE LOOP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7836408" y="1947672"/>
            <a:ext cx="350215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9AA3AD"/>
                </a:solidFill>
              </a:rPr>
              <a:t>Osserva → comunica → agisci → fallisci/impara → riprova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7635240" y="2788920"/>
            <a:ext cx="3886200" cy="1188720"/>
          </a:xfrm>
          <a:prstGeom prst="roundRect">
            <a:avLst/>
          </a:prstGeom>
          <a:solidFill>
            <a:srgbClr val="12161C"/>
          </a:solidFill>
          <a:ln w="12700">
            <a:solidFill>
              <a:srgbClr val="272E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35240" y="2788920"/>
            <a:ext cx="50292" cy="1188720"/>
          </a:xfrm>
          <a:prstGeom prst="rect">
            <a:avLst/>
          </a:prstGeom>
          <a:solidFill>
            <a:srgbClr val="45D6FF"/>
          </a:solidFill>
          <a:ln w="12700">
            <a:solidFill>
              <a:srgbClr val="45D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36408" y="299008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0" kern="0" dirty="0">
                <a:solidFill>
                  <a:srgbClr val="9AA3AD"/>
                </a:solidFill>
              </a:rPr>
              <a:t>SESSION DESIGN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7836408" y="3319272"/>
            <a:ext cx="350215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9AA3AD"/>
                </a:solidFill>
              </a:rPr>
              <a:t>Livelli brevi, regole leggibili, escalation rapida, alta densità di momenti social.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7635240" y="4160520"/>
            <a:ext cx="3886200" cy="1508760"/>
          </a:xfrm>
          <a:prstGeom prst="roundRect">
            <a:avLst/>
          </a:prstGeom>
          <a:solidFill>
            <a:srgbClr val="12161C"/>
          </a:solidFill>
          <a:ln w="12700">
            <a:solidFill>
              <a:srgbClr val="272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35240" y="4160520"/>
            <a:ext cx="50292" cy="150876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36408" y="436168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0" kern="0" dirty="0">
                <a:solidFill>
                  <a:srgbClr val="9AA3AD"/>
                </a:solidFill>
              </a:rPr>
              <a:t>DESIGN TARGET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7836408" y="4690872"/>
            <a:ext cx="350215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9AA3AD"/>
                </a:solidFill>
              </a:rPr>
              <a:t>“Ancora una run.” Un gioco semplice da capire, difficile da coordinare, divertente anche da guardare.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E74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6F8"/>
                </a:solidFill>
              </a:rPr>
              <a:t>Perché adesso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6926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AD"/>
                </a:solidFill>
              </a:rPr>
              <a:t>Il co-op è diventato uno dei motori più forti della scoperta organica su Steam.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B7FF2A"/>
                </a:solidFill>
              </a:rPr>
              <a:t>CO-OP = MOLTIPLICATORE SOCIALE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13232" y="2011680"/>
            <a:ext cx="4754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6F8"/>
                </a:solidFill>
              </a:rPr>
              <a:t>Un acquisto crea una sessione.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4F6F8"/>
                </a:solidFill>
              </a:rPr>
              <a:t>Una sessione crea conversazione.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4F6F8"/>
                </a:solidFill>
              </a:rPr>
              <a:t>La conversazione crea contenuti.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0" y="1417320"/>
            <a:ext cx="2423160" cy="1828800"/>
          </a:xfrm>
          <a:prstGeom prst="roundRect">
            <a:avLst/>
          </a:prstGeom>
          <a:solidFill>
            <a:srgbClr val="12161C"/>
          </a:solidFill>
          <a:ln w="12700">
            <a:solidFill>
              <a:srgbClr val="272E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1417320"/>
            <a:ext cx="50292" cy="1828800"/>
          </a:xfrm>
          <a:prstGeom prst="rect">
            <a:avLst/>
          </a:prstGeom>
          <a:solidFill>
            <a:srgbClr val="45D6FF"/>
          </a:solidFill>
          <a:ln w="12700">
            <a:solidFill>
              <a:srgbClr val="45D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01968" y="161848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0" kern="0" dirty="0">
                <a:solidFill>
                  <a:srgbClr val="9AA3AD"/>
                </a:solidFill>
              </a:rPr>
              <a:t>2024 HIT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6601968" y="194767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F6F8"/>
                </a:solidFill>
              </a:rPr>
              <a:t>19M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601968" y="2542032"/>
            <a:ext cx="203911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9AA3AD"/>
                </a:solidFill>
              </a:rPr>
              <a:t>Palworld — copie vendute riportate da VGI nel report co-op (dato a giugno 2024).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9006840" y="1417320"/>
            <a:ext cx="2423160" cy="1828800"/>
          </a:xfrm>
          <a:prstGeom prst="roundRect">
            <a:avLst/>
          </a:prstGeom>
          <a:solidFill>
            <a:srgbClr val="12161C"/>
          </a:solidFill>
          <a:ln w="12700">
            <a:solidFill>
              <a:srgbClr val="272E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06840" y="1417320"/>
            <a:ext cx="50292" cy="182880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08008" y="161848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0" kern="0" dirty="0">
                <a:solidFill>
                  <a:srgbClr val="9AA3AD"/>
                </a:solidFill>
              </a:rPr>
              <a:t>2024 HIT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9208008" y="194767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F6F8"/>
                </a:solidFill>
              </a:rPr>
              <a:t>11M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9208008" y="2542032"/>
            <a:ext cx="203911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9AA3AD"/>
                </a:solidFill>
              </a:rPr>
              <a:t>Helldivers 2 — copie vendute riportate da VGI nel report co-op (dato a giugno 2024).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6400800" y="3456432"/>
            <a:ext cx="5029200" cy="1508760"/>
          </a:xfrm>
          <a:prstGeom prst="roundRect">
            <a:avLst/>
          </a:prstGeom>
          <a:solidFill>
            <a:srgbClr val="12161C"/>
          </a:solidFill>
          <a:ln w="12700">
            <a:solidFill>
              <a:srgbClr val="272E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3456432"/>
            <a:ext cx="50292" cy="1508760"/>
          </a:xfrm>
          <a:prstGeom prst="rect">
            <a:avLst/>
          </a:prstGeom>
          <a:solidFill>
            <a:srgbClr val="FFCB57"/>
          </a:solidFill>
          <a:ln w="12700">
            <a:solidFill>
              <a:srgbClr val="FFCB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01968" y="365760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0" kern="0" dirty="0">
                <a:solidFill>
                  <a:srgbClr val="9AA3AD"/>
                </a:solidFill>
              </a:rPr>
              <a:t>SEGNALE DI MERCATO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6601968" y="3986784"/>
            <a:ext cx="464515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9AA3AD"/>
                </a:solidFill>
              </a:rPr>
              <a:t>VGI: nel 2024 i giochi indie hanno raggiunto livelli di revenue comparabili a AAA/AA su Steam; il settore indie cresce dal 2020.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13232" y="42519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D"/>
                </a:solidFill>
              </a:rPr>
              <a:t>My Friend Is Blind punta al segmento “small-team social co-op”: prezzo accessibile, onboarding immediato, forte potenziale creator.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2648" y="623620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6E747D"/>
                </a:solidFill>
              </a:rPr>
              <a:t>Fonti: Video Game Insights — Rise of the Co-Op Games (2024); Global Indie Games Market Report 2024.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E74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6F8"/>
                </a:solidFill>
              </a:rPr>
              <a:t>Comparable: il range è enorme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6926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AD"/>
                </a:solidFill>
              </a:rPr>
              <a:t>Dai piccoli breakout ai fenomeni globali: la categoria dimostra elasticità di scala.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3383280" cy="3520440"/>
          </a:xfrm>
          <a:prstGeom prst="roundRect">
            <a:avLst/>
          </a:prstGeom>
          <a:solidFill>
            <a:srgbClr val="12161C"/>
          </a:solidFill>
          <a:ln w="12700">
            <a:solidFill>
              <a:srgbClr val="272E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17320"/>
            <a:ext cx="50292" cy="352044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61848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0" kern="0" dirty="0">
                <a:solidFill>
                  <a:srgbClr val="9AA3AD"/>
                </a:solidFill>
              </a:rPr>
              <a:t>FALL GUYS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859536" y="19476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F6F8"/>
                </a:solidFill>
              </a:rPr>
              <a:t>7M Steam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59536" y="2542032"/>
            <a:ext cx="2999232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9AA3AD"/>
                </a:solidFill>
              </a:rPr>
              <a:t>Copie Steam superate in meno di un mese dal lancio 2020. Devolver ha poi riportato $150,5M di revenue attribuita a Fall Guys nei 12 mesi al 31/12/2020.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9AA3AD"/>
                </a:solidFill>
              </a:rPr>
              <a:t>Benchmark: breakout globale.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3383280" cy="3520440"/>
          </a:xfrm>
          <a:prstGeom prst="roundRect">
            <a:avLst/>
          </a:prstGeom>
          <a:solidFill>
            <a:srgbClr val="12161C"/>
          </a:solidFill>
          <a:ln w="12700">
            <a:solidFill>
              <a:srgbClr val="272E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417320"/>
            <a:ext cx="50292" cy="3520440"/>
          </a:xfrm>
          <a:prstGeom prst="rect">
            <a:avLst/>
          </a:prstGeom>
          <a:solidFill>
            <a:srgbClr val="B7FF2A"/>
          </a:solidFill>
          <a:ln w="12700">
            <a:solidFill>
              <a:srgbClr val="B7FF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61848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0" kern="0" dirty="0">
                <a:solidFill>
                  <a:srgbClr val="9AA3AD"/>
                </a:solidFill>
              </a:rPr>
              <a:t>MACHINE PARTY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4590288" y="19476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F6F8"/>
                </a:solidFill>
              </a:rPr>
              <a:t>$7.99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590288" y="2542032"/>
            <a:ext cx="2999232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9AA3AD"/>
                </a:solidFill>
              </a:rPr>
              <a:t>Lanciato 30 luglio 2026. ~4K review Steam pubbliche. Le stime terze divergono fortemente: ~159K unità / $1,3M gross (review model) vs 1,5M unità / $8,4M premium revenue (VGI/Sensor Tower).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9AA3AD"/>
                </a:solidFill>
              </a:rPr>
              <a:t>Benchmark: social party recente.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8119872" y="1417320"/>
            <a:ext cx="3383280" cy="3520440"/>
          </a:xfrm>
          <a:prstGeom prst="roundRect">
            <a:avLst/>
          </a:prstGeom>
          <a:solidFill>
            <a:srgbClr val="12161C"/>
          </a:solidFill>
          <a:ln w="12700">
            <a:solidFill>
              <a:srgbClr val="272E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19872" y="1417320"/>
            <a:ext cx="50292" cy="3520440"/>
          </a:xfrm>
          <a:prstGeom prst="rect">
            <a:avLst/>
          </a:prstGeom>
          <a:solidFill>
            <a:srgbClr val="45D6FF"/>
          </a:solidFill>
          <a:ln w="12700">
            <a:solidFill>
              <a:srgbClr val="45D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61848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0" kern="0" dirty="0">
                <a:solidFill>
                  <a:srgbClr val="9AA3AD"/>
                </a:solidFill>
              </a:rPr>
              <a:t>BOMBANANA!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8321040" y="19476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F6F8"/>
                </a:solidFill>
              </a:rPr>
              <a:t>$7.99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8321040" y="2542032"/>
            <a:ext cx="2999232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9AA3AD"/>
                </a:solidFill>
              </a:rPr>
              <a:t>Lanciato 2 settembre 2026. 1.650 review Steam, 96% positive al 10 settembre. VGI mostra ~466K unità nella top chart, ma la revenue è dietro paywall.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9AA3AD"/>
                </a:solidFill>
              </a:rPr>
              <a:t>Benchmark: co-op asimmetrico diretto.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685800" y="5230368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AD"/>
                </a:solidFill>
              </a:rPr>
              <a:t>Nota metodologica: Valve non pubblica le vendite per titolo. Dove non esiste disclosure ufficiale, i numeri sono stime di terze parti e vanno trattati come range, non come consuntivi.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12648" y="623620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6E747D"/>
                </a:solidFill>
              </a:rPr>
              <a:t>Fonti: Steam; Devolver Digital Admission Document; PC Gamer; Video Game Insights/Sensor Tower; SteamPageAnalyzer. Dati consultati 10/09/2026.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E74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6F8"/>
                </a:solidFill>
              </a:rPr>
              <a:t>La tesi di mercato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6926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AD"/>
                </a:solidFill>
              </a:rPr>
              <a:t>Non serve replicare Fall Guys. Serve catturare una frazione credibile del comportamento che rende i co-op virali.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2331720" cy="3246120"/>
          </a:xfrm>
          <a:prstGeom prst="roundRect">
            <a:avLst/>
          </a:prstGeom>
          <a:solidFill>
            <a:srgbClr val="12161C"/>
          </a:solidFill>
          <a:ln w="12700">
            <a:solidFill>
              <a:srgbClr val="272E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50292" cy="3246120"/>
          </a:xfrm>
          <a:prstGeom prst="rect">
            <a:avLst/>
          </a:prstGeom>
          <a:solidFill>
            <a:srgbClr val="B7FF2A"/>
          </a:solidFill>
          <a:ln w="12700">
            <a:solidFill>
              <a:srgbClr val="B7FF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7099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0" kern="0" dirty="0">
                <a:solidFill>
                  <a:srgbClr val="9AA3AD"/>
                </a:solidFill>
              </a:rPr>
              <a:t>LOW FRICTION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886968" y="203911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F6F8"/>
                </a:solidFill>
              </a:rPr>
              <a:t>01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86968" y="2633472"/>
            <a:ext cx="1947672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9AA3AD"/>
                </a:solidFill>
              </a:rPr>
              <a:t>Prezzo sotto i $12 e concetto spiegabile in pochi secondi.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3520440" y="1508760"/>
            <a:ext cx="2331720" cy="3246120"/>
          </a:xfrm>
          <a:prstGeom prst="roundRect">
            <a:avLst/>
          </a:prstGeom>
          <a:solidFill>
            <a:srgbClr val="12161C"/>
          </a:solidFill>
          <a:ln w="12700">
            <a:solidFill>
              <a:srgbClr val="272E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1508760"/>
            <a:ext cx="50292" cy="324612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21608" y="17099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0" kern="0" dirty="0">
                <a:solidFill>
                  <a:srgbClr val="9AA3AD"/>
                </a:solidFill>
              </a:rPr>
              <a:t>SOCIAL TENSION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3721608" y="203911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F6F8"/>
                </a:solidFill>
              </a:rPr>
              <a:t>02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721608" y="2633472"/>
            <a:ext cx="1947672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9AA3AD"/>
                </a:solidFill>
              </a:rPr>
              <a:t>Informazione incompleta + timer + responsabilità condivisa.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6355080" y="1508760"/>
            <a:ext cx="2331720" cy="3246120"/>
          </a:xfrm>
          <a:prstGeom prst="roundRect">
            <a:avLst/>
          </a:prstGeom>
          <a:solidFill>
            <a:srgbClr val="12161C"/>
          </a:solidFill>
          <a:ln w="12700">
            <a:solidFill>
              <a:srgbClr val="272E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508760"/>
            <a:ext cx="50292" cy="3246120"/>
          </a:xfrm>
          <a:prstGeom prst="rect">
            <a:avLst/>
          </a:prstGeom>
          <a:solidFill>
            <a:srgbClr val="45D6FF"/>
          </a:solidFill>
          <a:ln w="12700">
            <a:solidFill>
              <a:srgbClr val="45D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6248" y="17099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0" kern="0" dirty="0">
                <a:solidFill>
                  <a:srgbClr val="9AA3AD"/>
                </a:solidFill>
              </a:rPr>
              <a:t>CREATOR FUEL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6556248" y="203911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F6F8"/>
                </a:solidFill>
              </a:rPr>
              <a:t>03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6556248" y="2633472"/>
            <a:ext cx="1947672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9AA3AD"/>
                </a:solidFill>
              </a:rPr>
              <a:t>Urla, errori, clutch e tradimenti generano clip naturalmente.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9189720" y="1508760"/>
            <a:ext cx="2331720" cy="3246120"/>
          </a:xfrm>
          <a:prstGeom prst="roundRect">
            <a:avLst/>
          </a:prstGeom>
          <a:solidFill>
            <a:srgbClr val="12161C"/>
          </a:solidFill>
          <a:ln w="12700">
            <a:solidFill>
              <a:srgbClr val="272E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89720" y="1508760"/>
            <a:ext cx="50292" cy="3246120"/>
          </a:xfrm>
          <a:prstGeom prst="rect">
            <a:avLst/>
          </a:prstGeom>
          <a:solidFill>
            <a:srgbClr val="FFCB57"/>
          </a:solidFill>
          <a:ln w="12700">
            <a:solidFill>
              <a:srgbClr val="FFCB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90888" y="17099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0" kern="0" dirty="0">
                <a:solidFill>
                  <a:srgbClr val="9AA3AD"/>
                </a:solidFill>
              </a:rPr>
              <a:t>REPLAYABILITY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9390888" y="203911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F6F8"/>
                </a:solidFill>
              </a:rPr>
              <a:t>04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9390888" y="2633472"/>
            <a:ext cx="1947672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9AA3AD"/>
                </a:solidFill>
              </a:rPr>
              <a:t>7+ livelli al lancio e struttura espandibile con nuove prove.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731520" y="51663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8"/>
                </a:solidFill>
              </a:rPr>
              <a:t>Posizionamento: “Keep Talking and Nobody Explodes” incontra la tensione da party game moderno — ma con una relazione Guide/Blind immediatamente riconoscibile.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E74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6F8"/>
                </a:solidFill>
              </a:rPr>
              <a:t>Distribuzione: creator già vicini al progetto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6926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AD"/>
                </a:solidFill>
              </a:rPr>
              <a:t>Audience gaming italiana utilizzabile per test, feedback, contenuti e launch amplification.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AA3AD"/>
                </a:solidFill>
              </a:rPr>
              <a:t>CREATOR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749040" y="1417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AA3AD"/>
                </a:solidFill>
              </a:rPr>
              <a:t>FOLLOWER TWITCH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03504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AA3AD"/>
                </a:solidFill>
              </a:rPr>
              <a:t>VIEWERS • 30D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58368" y="1709928"/>
            <a:ext cx="10835640" cy="530352"/>
          </a:xfrm>
          <a:prstGeom prst="roundRect">
            <a:avLst/>
          </a:prstGeom>
          <a:solidFill>
            <a:srgbClr val="10141A"/>
          </a:solidFill>
          <a:ln w="12700">
            <a:solidFill>
              <a:srgbClr val="252C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7830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F6F8"/>
                </a:solidFill>
              </a:rPr>
              <a:t>ManuuXO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749040" y="17830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FF2A"/>
                </a:solidFill>
              </a:rPr>
              <a:t>~555K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35040" y="17830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8"/>
                </a:solidFill>
              </a:rPr>
              <a:t>4.634 avg / 10.407 peak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738360" y="17830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5D6FF"/>
                </a:solidFill>
              </a:rPr>
              <a:t>VERIFICATO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58368" y="2313432"/>
            <a:ext cx="10835640" cy="530352"/>
          </a:xfrm>
          <a:prstGeom prst="roundRect">
            <a:avLst/>
          </a:prstGeom>
          <a:solidFill>
            <a:srgbClr val="12161C"/>
          </a:solidFill>
          <a:ln w="12700">
            <a:solidFill>
              <a:srgbClr val="252C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3865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F6F8"/>
                </a:solidFill>
              </a:rPr>
              <a:t>Dario Martiz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749040" y="23865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FF2A"/>
                </a:solidFill>
              </a:rPr>
              <a:t>~90K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35040" y="23865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8"/>
                </a:solidFill>
              </a:rPr>
              <a:t>317 avg / 739 peak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738360" y="238658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5D6FF"/>
                </a:solidFill>
              </a:rPr>
              <a:t>VERIFICATO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58368" y="2916936"/>
            <a:ext cx="10835640" cy="530352"/>
          </a:xfrm>
          <a:prstGeom prst="roundRect">
            <a:avLst/>
          </a:prstGeom>
          <a:solidFill>
            <a:srgbClr val="10141A"/>
          </a:solidFill>
          <a:ln w="12700">
            <a:solidFill>
              <a:srgbClr val="252C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29900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F6F8"/>
                </a:solidFill>
              </a:rPr>
              <a:t>Stalkerina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749040" y="29900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FF2A"/>
                </a:solidFill>
              </a:rPr>
              <a:t>~33K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35040" y="29900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8"/>
                </a:solidFill>
              </a:rPr>
              <a:t>54 avg / 122 peak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738360" y="299008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5D6FF"/>
                </a:solidFill>
              </a:rPr>
              <a:t>VERIFICATO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58368" y="3520440"/>
            <a:ext cx="10835640" cy="530352"/>
          </a:xfrm>
          <a:prstGeom prst="roundRect">
            <a:avLst/>
          </a:prstGeom>
          <a:solidFill>
            <a:srgbClr val="12161C"/>
          </a:solidFill>
          <a:ln w="12700">
            <a:solidFill>
              <a:srgbClr val="252C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35935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F6F8"/>
                </a:solidFill>
              </a:rPr>
              <a:t>Bizzio2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749040" y="35935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FF2A"/>
                </a:solidFill>
              </a:rPr>
              <a:t>~12K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035040" y="3593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8"/>
                </a:solidFill>
              </a:rPr>
              <a:t>55 avg / 153 peak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738360" y="35935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5D6FF"/>
                </a:solidFill>
              </a:rPr>
              <a:t>VERIFICATO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58368" y="4123944"/>
            <a:ext cx="10835640" cy="530352"/>
          </a:xfrm>
          <a:prstGeom prst="roundRect">
            <a:avLst/>
          </a:prstGeom>
          <a:solidFill>
            <a:srgbClr val="10141A"/>
          </a:solidFill>
          <a:ln w="12700">
            <a:solidFill>
              <a:srgbClr val="252C3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" y="41970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F6F8"/>
                </a:solidFill>
              </a:rPr>
              <a:t>Sami_GBT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749040" y="41970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FF2A"/>
                </a:solidFill>
              </a:rPr>
              <a:t>~45K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035040" y="41970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8"/>
                </a:solidFill>
              </a:rPr>
              <a:t>25 avg / 58 peak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738360" y="419709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5D6FF"/>
                </a:solidFill>
              </a:rPr>
              <a:t>VERIFICATO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58368" y="4727448"/>
            <a:ext cx="10835640" cy="530352"/>
          </a:xfrm>
          <a:prstGeom prst="roundRect">
            <a:avLst/>
          </a:prstGeom>
          <a:solidFill>
            <a:srgbClr val="12161C"/>
          </a:solidFill>
          <a:ln w="12700">
            <a:solidFill>
              <a:srgbClr val="252C3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48006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F6F8"/>
                </a:solidFill>
              </a:rPr>
              <a:t>panniR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749040" y="4800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FF2A"/>
                </a:solidFill>
              </a:rPr>
              <a:t>~31K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035040" y="48006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8"/>
                </a:solidFill>
              </a:rPr>
              <a:t>53 peak su MW4; avg non trovato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738360" y="48006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CB57"/>
                </a:solidFill>
              </a:rPr>
              <a:t>PARZIALE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58368" y="5330952"/>
            <a:ext cx="10835640" cy="530352"/>
          </a:xfrm>
          <a:prstGeom prst="roundRect">
            <a:avLst/>
          </a:prstGeom>
          <a:solidFill>
            <a:srgbClr val="10141A"/>
          </a:solidFill>
          <a:ln w="12700">
            <a:solidFill>
              <a:srgbClr val="252C3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4672" y="54041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F6F8"/>
                </a:solidFill>
              </a:rPr>
              <a:t>ElChape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749040" y="540410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A3AD"/>
                </a:solidFill>
              </a:rPr>
              <a:t>—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035040" y="54041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8"/>
                </a:solidFill>
              </a:rPr>
              <a:t>dato pubblico non verificato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738360" y="540410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CB57"/>
                </a:solidFill>
              </a:rPr>
              <a:t>DA VALIDARE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13232" y="58978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3AD"/>
                </a:solidFill>
              </a:rPr>
              <a:t>Nota: “supporto” indica contatti/creator indicati dal founder; non implica endorsement commerciale o impegno contrattuale. I dati Twitch cambiano nel tempo.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12648" y="623620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6E747D"/>
                </a:solidFill>
              </a:rPr>
              <a:t>Fonti creator: Streams Charts, TwitchMetrics e siti ufficiali. Dati pubblici consultati 10/09/2026.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E74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6F8"/>
                </a:solidFill>
              </a:rPr>
              <a:t>Roadmap verso il lancio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6926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AD"/>
                </a:solidFill>
              </a:rPr>
              <a:t>Una finestra corta, guidata da playtest e iterazione sul fun factor.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97280" y="2880360"/>
            <a:ext cx="9875520" cy="0"/>
          </a:xfrm>
          <a:prstGeom prst="line">
            <a:avLst/>
          </a:prstGeom>
          <a:noFill/>
          <a:ln w="38100">
            <a:solidFill>
              <a:srgbClr val="3942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2633472"/>
            <a:ext cx="502920" cy="502920"/>
          </a:xfrm>
          <a:prstGeom prst="ellipse">
            <a:avLst/>
          </a:prstGeom>
          <a:solidFill>
            <a:srgbClr val="B7FF2A"/>
          </a:solidFill>
          <a:ln w="25400">
            <a:solidFill>
              <a:srgbClr val="080A0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965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A3AD"/>
                </a:solidFill>
              </a:rPr>
              <a:t>10 SET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3383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8"/>
                </a:solidFill>
              </a:rPr>
              <a:t>Core build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82219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AD"/>
                </a:solidFill>
              </a:rPr>
              <a:t>Networking, UX, primi livelli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A3AD"/>
                </a:solidFill>
              </a:rPr>
              <a:t>+ instrumentation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0" y="2633472"/>
            <a:ext cx="502920" cy="502920"/>
          </a:xfrm>
          <a:prstGeom prst="ellipse">
            <a:avLst/>
          </a:prstGeom>
          <a:solidFill>
            <a:srgbClr val="B7FF2A"/>
          </a:solidFill>
          <a:ln w="25400">
            <a:solidFill>
              <a:srgbClr val="080A0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965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A3AD"/>
                </a:solidFill>
              </a:rPr>
              <a:t>FINE SET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063240" y="3383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8"/>
                </a:solidFill>
              </a:rPr>
              <a:t>Closed test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0" y="382219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AD"/>
                </a:solidFill>
              </a:rPr>
              <a:t>Persone selezionate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A3AD"/>
                </a:solidFill>
              </a:rPr>
              <a:t>+ creator feedback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0" y="2633472"/>
            <a:ext cx="502920" cy="502920"/>
          </a:xfrm>
          <a:prstGeom prst="ellipse">
            <a:avLst/>
          </a:prstGeom>
          <a:solidFill>
            <a:srgbClr val="B7FF2A"/>
          </a:solidFill>
          <a:ln w="25400">
            <a:solidFill>
              <a:srgbClr val="080A0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965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A3AD"/>
                </a:solidFill>
              </a:rPr>
              <a:t>01–14 OTT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06440" y="3383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8"/>
                </a:solidFill>
              </a:rPr>
              <a:t>Polish sprint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0" y="382219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AD"/>
                </a:solidFill>
              </a:rPr>
              <a:t>Bilanciamento, bug fixing,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A3AD"/>
                </a:solidFill>
              </a:rPr>
              <a:t>onboarding, store assets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281160" y="2633472"/>
            <a:ext cx="502920" cy="502920"/>
          </a:xfrm>
          <a:prstGeom prst="ellipse">
            <a:avLst/>
          </a:prstGeom>
          <a:solidFill>
            <a:srgbClr val="FF4D4D"/>
          </a:solidFill>
          <a:ln w="25400">
            <a:solidFill>
              <a:srgbClr val="080A0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0" y="1965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A3AD"/>
                </a:solidFill>
              </a:rPr>
              <a:t>METÀ OTT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686800" y="3383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8"/>
                </a:solidFill>
              </a:rPr>
              <a:t>Launch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49640" y="382219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AD"/>
                </a:solidFill>
              </a:rPr>
              <a:t>Almeno 7 livelli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A3AD"/>
                </a:solidFill>
              </a:rPr>
              <a:t>+ creator activation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97280" y="516636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8"/>
                </a:solidFill>
              </a:rPr>
              <a:t>Obiettivo del test: non “trovare bug”. Trovare dove la tensione cala, dove la comunicazione si rompe in modo divertente e quali livelli fanno dire “rifacciamolo”.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E74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6F8"/>
                </a:solidFill>
              </a:rPr>
              <a:t>Pricing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6926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AD"/>
                </a:solidFill>
              </a:rPr>
              <a:t>Accessibile per entrare. Più valore quando porti un amico.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4983480" cy="3154680"/>
          </a:xfrm>
          <a:prstGeom prst="roundRect">
            <a:avLst/>
          </a:prstGeom>
          <a:solidFill>
            <a:srgbClr val="12161C"/>
          </a:solidFill>
          <a:ln w="12700">
            <a:solidFill>
              <a:srgbClr val="272E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50292" cy="3154680"/>
          </a:xfrm>
          <a:prstGeom prst="rect">
            <a:avLst/>
          </a:prstGeom>
          <a:solidFill>
            <a:srgbClr val="B7FF2A"/>
          </a:solidFill>
          <a:ln w="12700">
            <a:solidFill>
              <a:srgbClr val="B7FF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618488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0" kern="0" dirty="0">
                <a:solidFill>
                  <a:srgbClr val="9AA3AD"/>
                </a:solidFill>
              </a:rPr>
              <a:t>SINGLE COPY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932688" y="194767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F6F8"/>
                </a:solidFill>
              </a:rPr>
              <a:t>$7.99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32688" y="2542032"/>
            <a:ext cx="4599432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9AA3AD"/>
                </a:solidFill>
              </a:rPr>
              <a:t>Accesso standard al gioco. Prezzo coerente con Machine Party e BOMBANANA! al listino USA osservato.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6446520" y="1417320"/>
            <a:ext cx="4983480" cy="3154680"/>
          </a:xfrm>
          <a:prstGeom prst="roundRect">
            <a:avLst/>
          </a:prstGeom>
          <a:solidFill>
            <a:srgbClr val="12161C"/>
          </a:solidFill>
          <a:ln w="12700">
            <a:solidFill>
              <a:srgbClr val="272E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417320"/>
            <a:ext cx="50292" cy="3154680"/>
          </a:xfrm>
          <a:prstGeom prst="rect">
            <a:avLst/>
          </a:prstGeom>
          <a:solidFill>
            <a:srgbClr val="45D6FF"/>
          </a:solidFill>
          <a:ln w="12700">
            <a:solidFill>
              <a:srgbClr val="45D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47688" y="1618488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0" kern="0" dirty="0">
                <a:solidFill>
                  <a:srgbClr val="9AA3AD"/>
                </a:solidFill>
              </a:rPr>
              <a:t>FRIEND PASS BUNDLE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6647688" y="194767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F6F8"/>
                </a:solidFill>
              </a:rPr>
              <a:t>$11.99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647688" y="2542032"/>
            <a:ext cx="4599432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9AA3AD"/>
                </a:solidFill>
              </a:rPr>
              <a:t>Proposta commerciale per abbassare la frizione del “convincere un amico”.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9AA3AD"/>
                </a:solidFill>
              </a:rPr>
              <a:t>Da definire tecnicamente/commercialmente su Steam: bundle/guest access devono rispettare le feature disponibili sulla piattaforma.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749808" y="4983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4D4D"/>
                </a:solidFill>
              </a:rPr>
              <a:t>PRINCIPIO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828800" y="489204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8"/>
                </a:solidFill>
              </a:rPr>
              <a:t>Nel co-op il prezzo non deve massimizzare ARPU al giorno 1: deve massimizzare il numero di coppie che iniziano a giocare.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2648" y="623620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6E747D"/>
                </a:solidFill>
              </a:rPr>
              <a:t>Riferimento listini USA Steam al 10/09/2026: Machine Party $7.99; BOMBANANA! $7.99.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E74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6F8"/>
                </a:solidFill>
              </a:rPr>
              <a:t>Proiezioni conservative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6926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AD"/>
                </a:solidFill>
              </a:rPr>
              <a:t>Modello semplice: copie × $7.99. Nessuna microtransazione, DLC o uplift da bundle incluso.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49808" y="1508760"/>
            <a:ext cx="3337560" cy="2331720"/>
          </a:xfrm>
          <a:prstGeom prst="roundRect">
            <a:avLst/>
          </a:prstGeom>
          <a:solidFill>
            <a:srgbClr val="12161C"/>
          </a:solidFill>
          <a:ln w="12700">
            <a:solidFill>
              <a:srgbClr val="272E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508760"/>
            <a:ext cx="50292" cy="2331720"/>
          </a:xfrm>
          <a:prstGeom prst="rect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70992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0" kern="0" dirty="0">
                <a:solidFill>
                  <a:srgbClr val="9AA3AD"/>
                </a:solidFill>
              </a:rPr>
              <a:t>FLOOR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950976" y="20391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F6F8"/>
                </a:solidFill>
              </a:rPr>
              <a:t>10K copie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50976" y="2633472"/>
            <a:ext cx="2953512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9AA3AD"/>
                </a:solidFill>
              </a:rPr>
              <a:t>Gross: $79.9K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9AA3AD"/>
                </a:solidFill>
              </a:rPr>
              <a:t>Dopo 30% Steam*: $55.9K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4453128" y="1508760"/>
            <a:ext cx="3337560" cy="2331720"/>
          </a:xfrm>
          <a:prstGeom prst="roundRect">
            <a:avLst/>
          </a:prstGeom>
          <a:solidFill>
            <a:srgbClr val="12161C"/>
          </a:solidFill>
          <a:ln w="12700">
            <a:solidFill>
              <a:srgbClr val="272E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53128" y="1508760"/>
            <a:ext cx="50292" cy="2331720"/>
          </a:xfrm>
          <a:prstGeom prst="rect">
            <a:avLst/>
          </a:prstGeom>
          <a:solidFill>
            <a:srgbClr val="B7FF2A"/>
          </a:solidFill>
          <a:ln w="12700">
            <a:solidFill>
              <a:srgbClr val="B7FF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54296" y="170992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0" kern="0" dirty="0">
                <a:solidFill>
                  <a:srgbClr val="9AA3AD"/>
                </a:solidFill>
              </a:rPr>
              <a:t>TARGET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4654296" y="20391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F6F8"/>
                </a:solidFill>
              </a:rPr>
              <a:t>35K copie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654296" y="2633472"/>
            <a:ext cx="2953512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9AA3AD"/>
                </a:solidFill>
              </a:rPr>
              <a:t>Gross: $279.7K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9AA3AD"/>
                </a:solidFill>
              </a:rPr>
              <a:t>Dopo 30% Steam*: $195.8K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8156448" y="1508760"/>
            <a:ext cx="3337560" cy="2331720"/>
          </a:xfrm>
          <a:prstGeom prst="roundRect">
            <a:avLst/>
          </a:prstGeom>
          <a:solidFill>
            <a:srgbClr val="12161C"/>
          </a:solidFill>
          <a:ln w="12700">
            <a:solidFill>
              <a:srgbClr val="272E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56448" y="1508760"/>
            <a:ext cx="50292" cy="2331720"/>
          </a:xfrm>
          <a:prstGeom prst="rect">
            <a:avLst/>
          </a:prstGeom>
          <a:solidFill>
            <a:srgbClr val="45D6FF"/>
          </a:solidFill>
          <a:ln w="12700">
            <a:solidFill>
              <a:srgbClr val="45D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57616" y="170992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0" kern="0" dirty="0">
                <a:solidFill>
                  <a:srgbClr val="9AA3AD"/>
                </a:solidFill>
              </a:rPr>
              <a:t>BREAKOUT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8357616" y="20391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F6F8"/>
                </a:solidFill>
              </a:rPr>
              <a:t>100K copie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8357616" y="2633472"/>
            <a:ext cx="2953512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9AA3AD"/>
                </a:solidFill>
              </a:rPr>
              <a:t>Gross: $799K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9AA3AD"/>
                </a:solidFill>
              </a:rPr>
              <a:t>Dopo 30% Steam*: $559.3K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777240" y="43434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8"/>
                </a:solidFill>
              </a:rPr>
              <a:t>“30% sotto” — benchmark Machine Party (review-based)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47548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AD"/>
                </a:solidFill>
              </a:rPr>
              <a:t>Stima pubblica review-based: ~159K copie. Applicando -30% → ~111.6K copie → ~$892K gross a $7.99.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58200" y="43159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7FF2A"/>
                </a:solidFill>
              </a:rPr>
              <a:t>$624K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458200" y="4892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AD"/>
                </a:solidFill>
              </a:rPr>
              <a:t>dopo 30% Steam*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3AD"/>
                </a:solidFill>
              </a:rPr>
              <a:t>su 111.6K copie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571500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3AD"/>
                </a:solidFill>
              </a:rPr>
              <a:t>*Semplificazione pitch: 30% platform fee; non include IVA/tasse, refund, regional pricing, sconti, chargeback, publisher/marketing.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12648" y="623620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6E747D"/>
                </a:solidFill>
              </a:rPr>
              <a:t>Benchmark: SteamPageAnalyzer Machine Party ~159,360 copie (stima Boxleiter). Il dato VGI/Sensor Tower è molto più alto: il deck usa il benchmark più prudente.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E74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6F8"/>
                </a:solidFill>
              </a:rPr>
              <a:t>Go-to-market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6926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AD"/>
                </a:solidFill>
              </a:rPr>
              <a:t>Costruire domanda prima del launch, poi trasformare ogni sessione in distribuzione.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2514600" cy="3977640"/>
          </a:xfrm>
          <a:prstGeom prst="roundRect">
            <a:avLst/>
          </a:prstGeom>
          <a:solidFill>
            <a:srgbClr val="12161C"/>
          </a:solidFill>
          <a:ln w="12700">
            <a:solidFill>
              <a:srgbClr val="272E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17320"/>
            <a:ext cx="50292" cy="3977640"/>
          </a:xfrm>
          <a:prstGeom prst="rect">
            <a:avLst/>
          </a:prstGeom>
          <a:solidFill>
            <a:srgbClr val="B7FF2A"/>
          </a:solidFill>
          <a:ln w="12700">
            <a:solidFill>
              <a:srgbClr val="B7FF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61848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0" kern="0" dirty="0">
                <a:solidFill>
                  <a:srgbClr val="9AA3AD"/>
                </a:solidFill>
              </a:rPr>
              <a:t>PLAYTEST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859536" y="194767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F6F8"/>
                </a:solidFill>
              </a:rPr>
              <a:t>01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59536" y="2542032"/>
            <a:ext cx="2130552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9AA3AD"/>
                </a:solidFill>
              </a:rPr>
              <a:t>20–50 coppie selezionate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9AA3AD"/>
                </a:solidFill>
              </a:rPr>
              <a:t>Misurare completion, retry, rage/fun moments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3447288" y="1417320"/>
            <a:ext cx="2514600" cy="3977640"/>
          </a:xfrm>
          <a:prstGeom prst="roundRect">
            <a:avLst/>
          </a:prstGeom>
          <a:solidFill>
            <a:srgbClr val="12161C"/>
          </a:solidFill>
          <a:ln w="12700">
            <a:solidFill>
              <a:srgbClr val="272E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47288" y="1417320"/>
            <a:ext cx="50292" cy="3977640"/>
          </a:xfrm>
          <a:prstGeom prst="rect">
            <a:avLst/>
          </a:prstGeom>
          <a:solidFill>
            <a:srgbClr val="45D6FF"/>
          </a:solidFill>
          <a:ln w="12700">
            <a:solidFill>
              <a:srgbClr val="45D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48456" y="161848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0" kern="0" dirty="0">
                <a:solidFill>
                  <a:srgbClr val="9AA3AD"/>
                </a:solidFill>
              </a:rPr>
              <a:t>CREATOR SEED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3648456" y="194767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F6F8"/>
                </a:solidFill>
              </a:rPr>
              <a:t>02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648456" y="2542032"/>
            <a:ext cx="2130552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9AA3AD"/>
                </a:solidFill>
              </a:rPr>
              <a:t>Build privata ai creator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9AA3AD"/>
                </a:solidFill>
              </a:rPr>
              <a:t>Clip, reaction, feedback, Discord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6236208" y="1417320"/>
            <a:ext cx="2514600" cy="3977640"/>
          </a:xfrm>
          <a:prstGeom prst="roundRect">
            <a:avLst/>
          </a:prstGeom>
          <a:solidFill>
            <a:srgbClr val="12161C"/>
          </a:solidFill>
          <a:ln w="12700">
            <a:solidFill>
              <a:srgbClr val="272E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36208" y="1417320"/>
            <a:ext cx="50292" cy="3977640"/>
          </a:xfrm>
          <a:prstGeom prst="rect">
            <a:avLst/>
          </a:prstGeom>
          <a:solidFill>
            <a:srgbClr val="FFCB57"/>
          </a:solidFill>
          <a:ln w="12700">
            <a:solidFill>
              <a:srgbClr val="FFCB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37376" y="161848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0" kern="0" dirty="0">
                <a:solidFill>
                  <a:srgbClr val="9AA3AD"/>
                </a:solidFill>
              </a:rPr>
              <a:t>WISHLIST PUSH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6437376" y="194767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F6F8"/>
                </a:solidFill>
              </a:rPr>
              <a:t>03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6437376" y="2542032"/>
            <a:ext cx="2130552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9AA3AD"/>
                </a:solidFill>
              </a:rPr>
              <a:t>Short-form + Steam page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9AA3AD"/>
                </a:solidFill>
              </a:rPr>
              <a:t>CTA unica: wishlist / Discord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9025128" y="1417320"/>
            <a:ext cx="2514600" cy="3977640"/>
          </a:xfrm>
          <a:prstGeom prst="roundRect">
            <a:avLst/>
          </a:prstGeom>
          <a:solidFill>
            <a:srgbClr val="12161C"/>
          </a:solidFill>
          <a:ln w="12700">
            <a:solidFill>
              <a:srgbClr val="272E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25128" y="1417320"/>
            <a:ext cx="50292" cy="397764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26296" y="161848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0" kern="0" dirty="0">
                <a:solidFill>
                  <a:srgbClr val="9AA3AD"/>
                </a:solidFill>
              </a:rPr>
              <a:t>LAUNCH EVENT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9226296" y="194767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F6F8"/>
                </a:solidFill>
              </a:rPr>
              <a:t>04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9226296" y="2542032"/>
            <a:ext cx="2130552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9AA3AD"/>
                </a:solidFill>
              </a:rPr>
              <a:t>Creator co-op night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9AA3AD"/>
                </a:solidFill>
              </a:rPr>
              <a:t>7 livelli + sfide community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685800" y="56692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8"/>
                </a:solidFill>
              </a:rPr>
              <a:t>North-star pre-launch: wishlist qualificate + coppie che completano più di un livello nella stessa sessione.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E74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6F8"/>
                </a:solidFill>
              </a:rPr>
              <a:t>Next steps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6926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AD"/>
                </a:solidFill>
              </a:rPr>
              <a:t>Da prototipo promettente a lancio misurabile.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B7FF2A"/>
                </a:solidFill>
              </a:rPr>
              <a:t>SETTEMBRE → OTTOBRE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51206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6F8"/>
                </a:solidFill>
              </a:rPr>
              <a:t>1. Chiudere il core loop e i 7 livelli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6F8"/>
                </a:solidFill>
              </a:rPr>
              <a:t>2. Eseguire closed test strutturati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6F8"/>
                </a:solidFill>
              </a:rPr>
              <a:t>3. Validare retention di sessione e livelli top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6F8"/>
                </a:solidFill>
              </a:rPr>
              <a:t>4. Preparare Steam, trailer e creator kit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6F8"/>
                </a:solidFill>
              </a:rPr>
              <a:t>5. Coordinare creator activation per launch week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0" y="1417320"/>
            <a:ext cx="5029200" cy="4206240"/>
          </a:xfrm>
          <a:prstGeom prst="roundRect">
            <a:avLst/>
          </a:prstGeom>
          <a:solidFill>
            <a:srgbClr val="12161C"/>
          </a:solidFill>
          <a:ln w="17780">
            <a:solidFill>
              <a:srgbClr val="B7FF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1228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AA3AD"/>
                </a:solidFill>
              </a:rPr>
              <a:t>COSA CERCO ORA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12280" y="242316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6F8"/>
                </a:solidFill>
              </a:rPr>
              <a:t>Feedback strategico.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4F6F8"/>
                </a:solidFill>
              </a:rPr>
              <a:t>Playtester.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4F6F8"/>
                </a:solidFill>
              </a:rPr>
              <a:t>Creator.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4F6F8"/>
                </a:solidFill>
              </a:rPr>
              <a:t>Partner di distribuzione.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812280" y="461772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D"/>
                </a:solidFill>
              </a:rPr>
              <a:t>Obiettivo: lanciare a metà ottobre 2026 con una base abbastanza forte da far parlare il gioco prima che sia il gioco a dover comprare attenzione.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E74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6F8"/>
                </a:solidFill>
              </a:rPr>
              <a:t>Appendice • fonti &amp; assunzioni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6926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AD"/>
                </a:solidFill>
              </a:rPr>
              <a:t>I dati pubblici sono separati dalle stime per mantenere il pitch verificabile.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14173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FF2A"/>
                </a:solidFill>
              </a:rPr>
              <a:t>MERCATO / COMPARABLE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5486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8"/>
                </a:solidFill>
              </a:rPr>
              <a:t>• Steam — Machine Party, BOMBANANA! store pages (prezzi, release, review)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8"/>
                </a:solidFill>
              </a:rPr>
              <a:t>• Devolver Digital — Admission Document (Fall Guys: $150.5M revenue, 2020 period)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8"/>
                </a:solidFill>
              </a:rPr>
              <a:t>• PC Gamer — Fall Guys 7M Steam copies, Aug 2020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8"/>
                </a:solidFill>
              </a:rPr>
              <a:t>• Video Game Insights / Sensor Tower — Machine Party &amp; BOMBANANA! estimates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8"/>
                </a:solidFill>
              </a:rPr>
              <a:t>• SteamPageAnalyzer — Machine Party review-based sales estimate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8"/>
                </a:solidFill>
              </a:rPr>
              <a:t>• VGI — Rise of the Co-Op Games; Global Indie Games Market Report 2024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37960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5D6FF"/>
                </a:solidFill>
              </a:rPr>
              <a:t>CREATOR DATA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537960" y="1783080"/>
            <a:ext cx="4709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8"/>
                </a:solidFill>
              </a:rPr>
              <a:t>• Streams Charts — ManuuXO, DarioMartiz, Stalkerina, Bizzio2, Sami_GBT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8"/>
                </a:solidFill>
              </a:rPr>
              <a:t>• TwitchMetrics — panniR MW4 peak reference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8"/>
                </a:solidFill>
              </a:rPr>
              <a:t>• Creator metrics are snapshots and can change daily.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8"/>
                </a:solidFill>
              </a:rPr>
              <a:t>ASSUNZIONI FINANZIARIE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8"/>
                </a:solidFill>
              </a:rPr>
              <a:t>• $7.99 ASP used for simple gross model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8"/>
                </a:solidFill>
              </a:rPr>
              <a:t>• 30% Steam fee shown as simplified platform deduction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8"/>
                </a:solidFill>
              </a:rPr>
              <a:t>• Excludes taxes, VAT, refunds, regional pricing, discounts and other costs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5257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3AD"/>
                </a:solidFill>
              </a:rPr>
              <a:t>Dati consultati: 10 settembre 2026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E74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My Friend Is Blind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Friend Is Blind — Pitch Deck</dc:title>
  <dc:subject>Game Pitch</dc:subject>
  <dc:creator>My Friend Is Blind</dc:creator>
  <cp:lastModifiedBy>My Friend Is Blind</cp:lastModifiedBy>
  <cp:revision>1</cp:revision>
  <dcterms:created xsi:type="dcterms:W3CDTF">2026-09-10T17:37:46Z</dcterms:created>
  <dcterms:modified xsi:type="dcterms:W3CDTF">2026-09-10T17:37:46Z</dcterms:modified>
</cp:coreProperties>
</file>